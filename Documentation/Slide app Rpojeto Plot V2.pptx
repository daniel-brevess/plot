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DM Sans" pitchFamily="2" charset="0"/>
      <p:regular r:id="rId17"/>
      <p:bold r:id="rId18"/>
      <p:italic r:id="rId19"/>
      <p:boldItalic r:id="rId20"/>
    </p:embeddedFont>
    <p:embeddedFont>
      <p:font typeface="Libre Baskerville" panose="02000000000000000000" pitchFamily="2" charset="0"/>
      <p:regular r:id="rId21"/>
      <p:bold r:id="rId22"/>
      <p:italic r:id="rId23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>
          <p15:clr>
            <a:srgbClr val="A4A3A4"/>
          </p15:clr>
        </p15:guide>
        <p15:guide id="2" pos="46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D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794310-A34D-48BB-8F16-D60FC6B4D391}" v="89" dt="2026-06-12T00:03:36.208"/>
    <p1510:client id="{2FE8D235-BA1D-4FA4-833F-9FB488D5C392}" v="15" dt="2026-06-11T13:23:04.952"/>
    <p1510:client id="{7B0548D5-2A20-4EB8-BF1A-8ED760E68B1E}" v="95" dt="2026-06-10T20:11:36.5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0" d="100"/>
          <a:sy n="70" d="100"/>
        </p:scale>
        <p:origin x="-768" y="-276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763C7-6F0B-4E97-A307-D3A6FEBDB61C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822325" y="6950075"/>
            <a:ext cx="6584950" cy="65833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9370DF-50E1-43B4-A14B-3A4B2398D1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7831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7EDD4"/>
          </a:solidFill>
          <a:ln/>
        </p:spPr>
      </p:sp>
      <p:sp>
        <p:nvSpPr>
          <p:cNvPr id="4" name="Text 1"/>
          <p:cNvSpPr/>
          <p:nvPr/>
        </p:nvSpPr>
        <p:spPr>
          <a:xfrm>
            <a:off x="6280190" y="2527221"/>
            <a:ext cx="747831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60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Plot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6280190" y="3444954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280190" y="6860411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Alunos:</a:t>
            </a: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Daniel Breves · Bernardo Guilhon · Pablo Wesley · Ramon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280190" y="7389511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Professor Orientador:</a:t>
            </a: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Charles Bastos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202085" y="3286184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Curso de Análise e </a:t>
            </a:r>
            <a:r>
              <a:rPr lang="en-US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Desenvolvimento</a:t>
            </a: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 </a:t>
            </a:r>
            <a:r>
              <a:rPr lang="en-US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Sistemas</a:t>
            </a:r>
            <a:endParaRPr lang="en-US" dirty="0"/>
          </a:p>
        </p:txBody>
      </p:sp>
      <p:pic>
        <p:nvPicPr>
          <p:cNvPr id="9" name="Image 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8696" y="1628297"/>
            <a:ext cx="4714875" cy="4714875"/>
          </a:xfrm>
          <a:prstGeom prst="rect">
            <a:avLst/>
          </a:prstGeom>
        </p:spPr>
      </p:pic>
      <p:sp>
        <p:nvSpPr>
          <p:cNvPr id="10" name="Retângulo 9"/>
          <p:cNvSpPr/>
          <p:nvPr/>
        </p:nvSpPr>
        <p:spPr>
          <a:xfrm>
            <a:off x="12719713" y="7177951"/>
            <a:ext cx="1910687" cy="1057721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7EDD4"/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1175028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Introdução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793789" y="1956284"/>
            <a:ext cx="7556421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pt-BR" sz="2000" dirty="0">
                <a:latin typeface="DM Sans" panose="020B0604020202020204" charset="0"/>
              </a:rPr>
              <a:t>O </a:t>
            </a:r>
            <a:r>
              <a:rPr lang="pt-BR" sz="2000" dirty="0" err="1">
                <a:latin typeface="DM Sans" panose="020B0604020202020204" charset="0"/>
              </a:rPr>
              <a:t>Plot</a:t>
            </a:r>
            <a:r>
              <a:rPr lang="pt-BR" sz="2000" dirty="0">
                <a:latin typeface="DM Sans" panose="020B0604020202020204" charset="0"/>
              </a:rPr>
              <a:t> é um aplicativo móvel desenvolvido com </a:t>
            </a:r>
            <a:r>
              <a:rPr lang="pt-BR" sz="2000" dirty="0" err="1">
                <a:latin typeface="DM Sans" panose="020B0604020202020204" charset="0"/>
              </a:rPr>
              <a:t>Ionic</a:t>
            </a:r>
            <a:r>
              <a:rPr lang="pt-BR" sz="2000" dirty="0">
                <a:latin typeface="DM Sans" panose="020B0604020202020204" charset="0"/>
              </a:rPr>
              <a:t> e Angular, focado em oferecer uma experiência personalizada para leitores. O objetivo é permitir que usuários descubram novos livros através de uma API e gerenciem suas preferências literárias de forma intuitiva.</a:t>
            </a:r>
            <a:endParaRPr lang="en-US" sz="2000" dirty="0">
              <a:latin typeface="DM Sans" panose="020B060402020202020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93790" y="3903702"/>
            <a:ext cx="7556421" cy="1691880"/>
          </a:xfrm>
          <a:prstGeom prst="roundRect">
            <a:avLst>
              <a:gd name="adj" fmla="val 5647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99768" y="4109680"/>
            <a:ext cx="282053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Interface do </a:t>
            </a:r>
            <a:r>
              <a:rPr lang="en-US" sz="1950" dirty="0" err="1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usuário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999768" y="4538901"/>
            <a:ext cx="714446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Interface intuitiva, organizada e visualmente agradável, facilitando a navegação e o acesso às informações.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93790" y="5928322"/>
            <a:ext cx="7556421" cy="1755368"/>
          </a:xfrm>
          <a:prstGeom prst="roundRect">
            <a:avLst>
              <a:gd name="adj" fmla="val 5647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99768" y="61343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950" dirty="0" err="1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Lógica</a:t>
            </a:r>
            <a:r>
              <a:rPr lang="en-US" sz="1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do </a:t>
            </a:r>
            <a:r>
              <a:rPr lang="en-US" sz="1950" dirty="0" err="1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sistema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999768" y="6563521"/>
            <a:ext cx="714446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Responsável pelo armazenamento, gerenciamento e disponibilização dos dados, assegurando eficiência e consistência.</a:t>
            </a:r>
            <a:endParaRPr lang="en-US" sz="2000" dirty="0"/>
          </a:p>
        </p:txBody>
      </p:sp>
      <p:pic>
        <p:nvPicPr>
          <p:cNvPr id="12" name="Imagem 11" descr="Uma imagem contendo Texto&#10;&#10;O conteúdo gerado por IA pode estar incorreto."/>
          <p:cNvPicPr/>
          <p:nvPr/>
        </p:nvPicPr>
        <p:blipFill>
          <a:blip r:embed="rId3"/>
          <a:srcRect l="-43" r="-168" b="5204"/>
          <a:stretch>
            <a:fillRect/>
          </a:stretch>
        </p:blipFill>
        <p:spPr>
          <a:xfrm>
            <a:off x="9144590" y="-2544"/>
            <a:ext cx="5481351" cy="82323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3"/>
          <p:cNvSpPr/>
          <p:nvPr/>
        </p:nvSpPr>
        <p:spPr>
          <a:xfrm>
            <a:off x="650916" y="4067032"/>
            <a:ext cx="6366748" cy="2429301"/>
          </a:xfrm>
          <a:prstGeom prst="roundRect">
            <a:avLst>
              <a:gd name="adj" fmla="val 5647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840088" y="2057569"/>
            <a:ext cx="5288113" cy="643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Objetivo do Projeto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875215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objetivo é desenvolver um aplicativo de visualização de livros, reunindo título, autor, sinopse e avaliações de forma clara e organizada — focado exclusivamente no </a:t>
            </a:r>
            <a:r>
              <a:rPr lang="en-US" sz="20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consumo passivo de conteúdo</a:t>
            </a:r>
            <a:r>
              <a:rPr lang="en-US" sz="2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sem interação ativa dos usuários.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49273" y="433173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Desafio Principal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849273" y="4840248"/>
            <a:ext cx="616839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Equilibrar a simplicidade da aplicação com a entrega de informações relevantes e bem estruturadas, garantindo uma boa experiência de navegação.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564874" y="433173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Benefício Esperado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564874" y="4840248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Oferecer aos usuários uma ferramenta prática e eficiente para descobrir e avaliar livros com base em opiniões já consolidadas, facilitando a tomada de decisão na escolha de leituras.</a:t>
            </a:r>
            <a:endParaRPr lang="en-US" sz="2000" dirty="0"/>
          </a:p>
        </p:txBody>
      </p:sp>
      <p:sp>
        <p:nvSpPr>
          <p:cNvPr id="9" name="Retângulo 8"/>
          <p:cNvSpPr/>
          <p:nvPr/>
        </p:nvSpPr>
        <p:spPr>
          <a:xfrm>
            <a:off x="12719713" y="7177951"/>
            <a:ext cx="1910687" cy="1057721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0930" y="808297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Metodologia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627634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desenvolvimento seguiu uma abordagem </a:t>
            </a:r>
            <a:r>
              <a:rPr lang="en-US" sz="20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centrada no usuário</a:t>
            </a:r>
            <a:r>
              <a:rPr lang="en-US" sz="2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com foco na simplicidade e na fácil visualização das informações. Foram analisadas plataformas semelhantes para identificar boas práticas de organização e apresentação de avaliações.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93790" y="2970133"/>
            <a:ext cx="4215289" cy="2141815"/>
          </a:xfrm>
          <a:prstGeom prst="roundRect">
            <a:avLst>
              <a:gd name="adj" fmla="val 5123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0930" y="2970133"/>
            <a:ext cx="91440" cy="2141815"/>
          </a:xfrm>
          <a:prstGeom prst="roundRect">
            <a:avLst>
              <a:gd name="adj" fmla="val 91163"/>
            </a:avLst>
          </a:prstGeom>
          <a:solidFill>
            <a:schemeClr val="accent2">
              <a:lumMod val="60000"/>
              <a:lumOff val="40000"/>
            </a:schemeClr>
          </a:solidFill>
          <a:ln/>
        </p:spPr>
      </p:sp>
      <p:sp>
        <p:nvSpPr>
          <p:cNvPr id="6" name="Text 4"/>
          <p:cNvSpPr/>
          <p:nvPr/>
        </p:nvSpPr>
        <p:spPr>
          <a:xfrm>
            <a:off x="1083588" y="3191351"/>
            <a:ext cx="301861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Análise de Referências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83588" y="3620572"/>
            <a:ext cx="370427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Plataformas similares foram estudadas para identificar boas práticas de organização e apresentação de avaliações.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207437" y="2970133"/>
            <a:ext cx="4215408" cy="2141815"/>
          </a:xfrm>
          <a:prstGeom prst="roundRect">
            <a:avLst>
              <a:gd name="adj" fmla="val 5123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4577" y="2970133"/>
            <a:ext cx="91440" cy="2141815"/>
          </a:xfrm>
          <a:prstGeom prst="roundRect">
            <a:avLst>
              <a:gd name="adj" fmla="val 91163"/>
            </a:avLst>
          </a:prstGeom>
          <a:solidFill>
            <a:schemeClr val="accent2">
              <a:lumMod val="60000"/>
              <a:lumOff val="40000"/>
            </a:schemeClr>
          </a:solidFill>
          <a:ln/>
        </p:spPr>
      </p:sp>
      <p:sp>
        <p:nvSpPr>
          <p:cNvPr id="10" name="Text 8"/>
          <p:cNvSpPr/>
          <p:nvPr/>
        </p:nvSpPr>
        <p:spPr>
          <a:xfrm>
            <a:off x="5497235" y="3191351"/>
            <a:ext cx="336125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Definição de Necessidades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497235" y="3620572"/>
            <a:ext cx="37043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Foram definidas as principais necessidades do projeto, priorizando uma experiência direta de visualização de dados.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9621203" y="2970133"/>
            <a:ext cx="4215289" cy="2141815"/>
          </a:xfrm>
          <a:prstGeom prst="roundRect">
            <a:avLst>
              <a:gd name="adj" fmla="val 5123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98343" y="2970133"/>
            <a:ext cx="91440" cy="2141815"/>
          </a:xfrm>
          <a:prstGeom prst="roundRect">
            <a:avLst>
              <a:gd name="adj" fmla="val 91163"/>
            </a:avLst>
          </a:prstGeom>
          <a:solidFill>
            <a:schemeClr val="accent2">
              <a:lumMod val="60000"/>
              <a:lumOff val="40000"/>
            </a:schemeClr>
          </a:solidFill>
          <a:ln/>
        </p:spPr>
      </p:sp>
      <p:sp>
        <p:nvSpPr>
          <p:cNvPr id="14" name="Text 12"/>
          <p:cNvSpPr/>
          <p:nvPr/>
        </p:nvSpPr>
        <p:spPr>
          <a:xfrm>
            <a:off x="9911001" y="3191351"/>
            <a:ext cx="257350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Interface do </a:t>
            </a:r>
            <a:r>
              <a:rPr lang="en-US" sz="1950" dirty="0" err="1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usuário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911001" y="3620572"/>
            <a:ext cx="37042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Foco na criação de uma interface intuitiva, responsiva e visualmente agradável.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93790" y="5310307"/>
            <a:ext cx="4215289" cy="2100426"/>
          </a:xfrm>
          <a:prstGeom prst="roundRect">
            <a:avLst>
              <a:gd name="adj" fmla="val 6015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0930" y="5310307"/>
            <a:ext cx="91440" cy="2100426"/>
          </a:xfrm>
          <a:prstGeom prst="roundRect">
            <a:avLst>
              <a:gd name="adj" fmla="val 91163"/>
            </a:avLst>
          </a:prstGeom>
          <a:solidFill>
            <a:schemeClr val="accent2">
              <a:lumMod val="60000"/>
              <a:lumOff val="40000"/>
            </a:schemeClr>
          </a:solidFill>
          <a:ln/>
        </p:spPr>
      </p:sp>
      <p:sp>
        <p:nvSpPr>
          <p:cNvPr id="18" name="Text 16"/>
          <p:cNvSpPr/>
          <p:nvPr/>
        </p:nvSpPr>
        <p:spPr>
          <a:xfrm>
            <a:off x="1083588" y="553152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950" dirty="0" err="1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Lógica</a:t>
            </a:r>
            <a:r>
              <a:rPr lang="en-US" sz="1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do </a:t>
            </a:r>
            <a:r>
              <a:rPr lang="en-US" sz="1950" dirty="0" err="1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sistema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083588" y="5960745"/>
            <a:ext cx="37042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Estrutura eficiente para armazenamento e carregamento rápido das informações.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207437" y="5310306"/>
            <a:ext cx="4215408" cy="2100428"/>
          </a:xfrm>
          <a:prstGeom prst="roundRect">
            <a:avLst>
              <a:gd name="adj" fmla="val 6015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84577" y="5310306"/>
            <a:ext cx="91440" cy="2100427"/>
          </a:xfrm>
          <a:prstGeom prst="roundRect">
            <a:avLst>
              <a:gd name="adj" fmla="val 91163"/>
            </a:avLst>
          </a:prstGeom>
          <a:solidFill>
            <a:schemeClr val="accent2">
              <a:lumMod val="60000"/>
              <a:lumOff val="40000"/>
            </a:schemeClr>
          </a:solidFill>
          <a:ln/>
        </p:spPr>
      </p:sp>
      <p:sp>
        <p:nvSpPr>
          <p:cNvPr id="22" name="Text 20"/>
          <p:cNvSpPr/>
          <p:nvPr/>
        </p:nvSpPr>
        <p:spPr>
          <a:xfrm>
            <a:off x="5497235" y="553152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Testes e Ajustes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5497235" y="5960745"/>
            <a:ext cx="370439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Durante o processo, testes e ajustes foram realizados para melhorar a usabilidade do aplicativo.</a:t>
            </a:r>
            <a:endParaRPr lang="en-US" dirty="0"/>
          </a:p>
        </p:txBody>
      </p:sp>
      <p:sp>
        <p:nvSpPr>
          <p:cNvPr id="24" name="Retângulo 23"/>
          <p:cNvSpPr/>
          <p:nvPr/>
        </p:nvSpPr>
        <p:spPr>
          <a:xfrm>
            <a:off x="12719713" y="7177951"/>
            <a:ext cx="1910687" cy="1057721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95914"/>
            <a:ext cx="721875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Levantamento de Requisitos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712006"/>
            <a:ext cx="288954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Requisitos Funcionais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3220522"/>
            <a:ext cx="6279356" cy="3343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Cadastro e login de usuários</a:t>
            </a:r>
            <a:endParaRPr lang="en-US" sz="20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Autenticação com Google, e-mail e senha</a:t>
            </a:r>
            <a:endParaRPr lang="en-US" sz="20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Busca de livros na plataforma</a:t>
            </a:r>
            <a:endParaRPr lang="en-US" sz="20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Visualização de informações dos livros (título, autor, sinopse e avaliações)</a:t>
            </a:r>
            <a:endParaRPr lang="en-US" sz="20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Visualização de avaliações agregadas (nota média)</a:t>
            </a:r>
            <a:endParaRPr lang="en-US" sz="20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Editar perfil do usuário</a:t>
            </a:r>
            <a:endParaRPr lang="en-US" sz="20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Recurso de favoritar livros</a:t>
            </a:r>
            <a:endParaRPr lang="en-US" sz="20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Listagem de livros favoritos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564874" y="2712006"/>
            <a:ext cx="335911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Requisitos Não Funcionais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564874" y="3220522"/>
            <a:ext cx="6279356" cy="2639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Alta segurança dos dados dos usuários</a:t>
            </a:r>
            <a:endParaRPr lang="en-US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Tempo de resposta rápido nas buscas e carregamento</a:t>
            </a:r>
            <a:endParaRPr lang="en-US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Interface intuitiva e de fácil uso (usabilidade)</a:t>
            </a:r>
            <a:endParaRPr lang="en-US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Compatibilidade com diferentes dispositivos (responsividade)</a:t>
            </a:r>
            <a:endParaRPr lang="en-US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Disponibilidade do sistema (baixo tempo de indisponibilidade)</a:t>
            </a:r>
            <a:endParaRPr lang="en-US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Escalabilidade para suportar aumento de usuários</a:t>
            </a:r>
            <a:endParaRPr lang="en-US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Organização e clareza na apresentação das informações</a:t>
            </a:r>
            <a:endParaRPr lang="en-US" dirty="0"/>
          </a:p>
        </p:txBody>
      </p:sp>
      <p:sp>
        <p:nvSpPr>
          <p:cNvPr id="7" name="Retângulo 6"/>
          <p:cNvSpPr/>
          <p:nvPr/>
        </p:nvSpPr>
        <p:spPr>
          <a:xfrm>
            <a:off x="12719713" y="7177951"/>
            <a:ext cx="1910687" cy="1057721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383499"/>
            <a:ext cx="5183267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Ferramentas Utilizadas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706993" y="1012537"/>
            <a:ext cx="13216414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 ferramentas foram selecionadas para garantir eficiência no desenvolvimento, design e </a:t>
            </a:r>
            <a:r>
              <a:rPr lang="en-US" sz="20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implantação</a:t>
            </a:r>
            <a:r>
              <a:rPr lang="en-US" sz="2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 aplicativo mobile.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06993" y="1804392"/>
            <a:ext cx="4300538" cy="1961674"/>
          </a:xfrm>
          <a:prstGeom prst="roundRect">
            <a:avLst>
              <a:gd name="adj" fmla="val 378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302" y="1988701"/>
            <a:ext cx="530185" cy="530185"/>
          </a:xfrm>
          <a:prstGeom prst="roundRect">
            <a:avLst>
              <a:gd name="adj" fmla="val 17245085"/>
            </a:avLst>
          </a:prstGeom>
          <a:solidFill>
            <a:schemeClr val="accent2">
              <a:lumMod val="60000"/>
              <a:lumOff val="40000"/>
            </a:schemeClr>
          </a:solidFill>
          <a:ln/>
        </p:spPr>
      </p:sp>
      <p:sp>
        <p:nvSpPr>
          <p:cNvPr id="7" name="Text 4"/>
          <p:cNvSpPr/>
          <p:nvPr/>
        </p:nvSpPr>
        <p:spPr>
          <a:xfrm>
            <a:off x="1555910" y="2115680"/>
            <a:ext cx="220956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Figma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91302" y="2930346"/>
            <a:ext cx="3931920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Prototipagem e design de interfaces.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5164931" y="1804392"/>
            <a:ext cx="4300538" cy="1961674"/>
          </a:xfrm>
          <a:prstGeom prst="roundRect">
            <a:avLst>
              <a:gd name="adj" fmla="val 378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349240" y="1988701"/>
            <a:ext cx="530185" cy="530185"/>
          </a:xfrm>
          <a:prstGeom prst="roundRect">
            <a:avLst>
              <a:gd name="adj" fmla="val 17245085"/>
            </a:avLst>
          </a:prstGeom>
          <a:solidFill>
            <a:schemeClr val="accent2">
              <a:lumMod val="60000"/>
              <a:lumOff val="40000"/>
            </a:schemeClr>
          </a:solidFill>
          <a:ln/>
        </p:spPr>
      </p:sp>
      <p:sp>
        <p:nvSpPr>
          <p:cNvPr id="12" name="Text 8"/>
          <p:cNvSpPr/>
          <p:nvPr/>
        </p:nvSpPr>
        <p:spPr>
          <a:xfrm>
            <a:off x="5990685" y="2130654"/>
            <a:ext cx="220956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Node.js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349240" y="2870316"/>
            <a:ext cx="3931920" cy="353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dirty="0">
                <a:solidFill>
                  <a:srgbClr val="454240"/>
                </a:solidFill>
                <a:latin typeface="DM Sans"/>
              </a:rPr>
              <a:t>Base do </a:t>
            </a:r>
            <a:r>
              <a:rPr lang="en-US" dirty="0" err="1">
                <a:solidFill>
                  <a:srgbClr val="454240"/>
                </a:solidFill>
                <a:latin typeface="DM Sans"/>
              </a:rPr>
              <a:t>ambiente</a:t>
            </a:r>
            <a:r>
              <a:rPr lang="en-US" dirty="0">
                <a:solidFill>
                  <a:srgbClr val="454240"/>
                </a:solidFill>
                <a:latin typeface="DM Sans"/>
              </a:rPr>
              <a:t> do </a:t>
            </a:r>
            <a:r>
              <a:rPr lang="en-US" dirty="0" err="1">
                <a:solidFill>
                  <a:srgbClr val="454240"/>
                </a:solidFill>
                <a:latin typeface="DM Sans"/>
              </a:rPr>
              <a:t>projeto</a:t>
            </a:r>
            <a:endParaRPr lang="en-US">
              <a:solidFill>
                <a:srgbClr val="454240"/>
              </a:solidFill>
              <a:latin typeface="DM Sans"/>
            </a:endParaRPr>
          </a:p>
          <a:p>
            <a:pPr>
              <a:lnSpc>
                <a:spcPts val="2100"/>
              </a:lnSpc>
            </a:pPr>
            <a:r>
              <a:rPr lang="en-US" dirty="0" err="1">
                <a:solidFill>
                  <a:srgbClr val="454240"/>
                </a:solidFill>
                <a:latin typeface="DM Sans"/>
              </a:rPr>
              <a:t>gerenciando</a:t>
            </a:r>
            <a:r>
              <a:rPr lang="en-US" dirty="0">
                <a:solidFill>
                  <a:srgbClr val="454240"/>
                </a:solidFill>
                <a:latin typeface="DM Sans"/>
              </a:rPr>
              <a:t> </a:t>
            </a:r>
            <a:r>
              <a:rPr lang="en-US" dirty="0" err="1">
                <a:solidFill>
                  <a:srgbClr val="454240"/>
                </a:solidFill>
                <a:latin typeface="DM Sans"/>
              </a:rPr>
              <a:t>dependências</a:t>
            </a:r>
            <a:r>
              <a:rPr lang="en-US" dirty="0">
                <a:solidFill>
                  <a:srgbClr val="454240"/>
                </a:solidFill>
                <a:latin typeface="DM Sans"/>
              </a:rPr>
              <a:t> e scripts</a:t>
            </a:r>
          </a:p>
        </p:txBody>
      </p:sp>
      <p:sp>
        <p:nvSpPr>
          <p:cNvPr id="14" name="Shape 10"/>
          <p:cNvSpPr/>
          <p:nvPr/>
        </p:nvSpPr>
        <p:spPr>
          <a:xfrm>
            <a:off x="9622869" y="1804392"/>
            <a:ext cx="4300538" cy="1961674"/>
          </a:xfrm>
          <a:prstGeom prst="roundRect">
            <a:avLst>
              <a:gd name="adj" fmla="val 378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807178" y="1988701"/>
            <a:ext cx="530185" cy="530185"/>
          </a:xfrm>
          <a:prstGeom prst="roundRect">
            <a:avLst>
              <a:gd name="adj" fmla="val 17245085"/>
            </a:avLst>
          </a:prstGeom>
          <a:solidFill>
            <a:schemeClr val="accent2">
              <a:lumMod val="60000"/>
              <a:lumOff val="40000"/>
            </a:schemeClr>
          </a:solidFill>
          <a:ln/>
        </p:spPr>
      </p:sp>
      <p:sp>
        <p:nvSpPr>
          <p:cNvPr id="17" name="Text 12"/>
          <p:cNvSpPr/>
          <p:nvPr/>
        </p:nvSpPr>
        <p:spPr>
          <a:xfrm>
            <a:off x="10510151" y="2115679"/>
            <a:ext cx="220956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Ionic Angular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9807178" y="2870316"/>
            <a:ext cx="3931920" cy="534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Framework para desenvolvimento mobile híbrido.</a:t>
            </a: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706993" y="3923467"/>
            <a:ext cx="4300538" cy="1961674"/>
          </a:xfrm>
          <a:prstGeom prst="roundRect">
            <a:avLst>
              <a:gd name="adj" fmla="val 378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91302" y="4107775"/>
            <a:ext cx="530185" cy="530185"/>
          </a:xfrm>
          <a:prstGeom prst="roundRect">
            <a:avLst>
              <a:gd name="adj" fmla="val 17245085"/>
            </a:avLst>
          </a:prstGeom>
          <a:solidFill>
            <a:schemeClr val="accent2">
              <a:lumMod val="60000"/>
              <a:lumOff val="40000"/>
            </a:schemeClr>
          </a:solidFill>
          <a:ln/>
        </p:spPr>
      </p:sp>
      <p:sp>
        <p:nvSpPr>
          <p:cNvPr id="22" name="Text 16"/>
          <p:cNvSpPr/>
          <p:nvPr/>
        </p:nvSpPr>
        <p:spPr>
          <a:xfrm>
            <a:off x="1532747" y="4234753"/>
            <a:ext cx="220956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TypeScript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891302" y="4898588"/>
            <a:ext cx="3931920" cy="534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Linguagem tipada para maior robustez no código.</a:t>
            </a:r>
            <a:endParaRPr lang="en-US" dirty="0"/>
          </a:p>
        </p:txBody>
      </p:sp>
      <p:sp>
        <p:nvSpPr>
          <p:cNvPr id="24" name="Shape 18"/>
          <p:cNvSpPr/>
          <p:nvPr/>
        </p:nvSpPr>
        <p:spPr>
          <a:xfrm>
            <a:off x="5164931" y="3923467"/>
            <a:ext cx="4300538" cy="1961674"/>
          </a:xfrm>
          <a:prstGeom prst="roundRect">
            <a:avLst>
              <a:gd name="adj" fmla="val 378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349240" y="4107775"/>
            <a:ext cx="530185" cy="530185"/>
          </a:xfrm>
          <a:prstGeom prst="roundRect">
            <a:avLst>
              <a:gd name="adj" fmla="val 17245085"/>
            </a:avLst>
          </a:prstGeom>
          <a:solidFill>
            <a:schemeClr val="accent2">
              <a:lumMod val="60000"/>
              <a:lumOff val="40000"/>
            </a:schemeClr>
          </a:solidFill>
          <a:ln/>
        </p:spPr>
      </p:sp>
      <p:sp>
        <p:nvSpPr>
          <p:cNvPr id="27" name="Text 20"/>
          <p:cNvSpPr/>
          <p:nvPr/>
        </p:nvSpPr>
        <p:spPr>
          <a:xfrm>
            <a:off x="5990685" y="4252349"/>
            <a:ext cx="220956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VSCode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5349240" y="5032295"/>
            <a:ext cx="3931920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Editor de código principal do projeto.</a:t>
            </a:r>
            <a:endParaRPr lang="en-US" dirty="0"/>
          </a:p>
        </p:txBody>
      </p:sp>
      <p:sp>
        <p:nvSpPr>
          <p:cNvPr id="29" name="Shape 22"/>
          <p:cNvSpPr/>
          <p:nvPr/>
        </p:nvSpPr>
        <p:spPr>
          <a:xfrm>
            <a:off x="9622869" y="3923467"/>
            <a:ext cx="4300538" cy="1961674"/>
          </a:xfrm>
          <a:prstGeom prst="roundRect">
            <a:avLst>
              <a:gd name="adj" fmla="val 378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9807178" y="4107775"/>
            <a:ext cx="530185" cy="530185"/>
          </a:xfrm>
          <a:prstGeom prst="roundRect">
            <a:avLst>
              <a:gd name="adj" fmla="val 17245085"/>
            </a:avLst>
          </a:prstGeom>
          <a:solidFill>
            <a:schemeClr val="accent2">
              <a:lumMod val="60000"/>
              <a:lumOff val="40000"/>
            </a:schemeClr>
          </a:solidFill>
          <a:ln/>
        </p:spPr>
      </p:sp>
      <p:sp>
        <p:nvSpPr>
          <p:cNvPr id="32" name="Text 24"/>
          <p:cNvSpPr/>
          <p:nvPr/>
        </p:nvSpPr>
        <p:spPr>
          <a:xfrm>
            <a:off x="10510151" y="4234752"/>
            <a:ext cx="220956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Android SDK</a:t>
            </a:r>
            <a:endParaRPr lang="en-US" sz="1700" dirty="0"/>
          </a:p>
        </p:txBody>
      </p:sp>
      <p:sp>
        <p:nvSpPr>
          <p:cNvPr id="33" name="Text 25"/>
          <p:cNvSpPr/>
          <p:nvPr/>
        </p:nvSpPr>
        <p:spPr>
          <a:xfrm>
            <a:off x="9807178" y="5039444"/>
            <a:ext cx="3931920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Kit de desenvolvimento para Android.</a:t>
            </a:r>
            <a:endParaRPr lang="en-US" dirty="0"/>
          </a:p>
        </p:txBody>
      </p:sp>
      <p:sp>
        <p:nvSpPr>
          <p:cNvPr id="34" name="Shape 26"/>
          <p:cNvSpPr/>
          <p:nvPr/>
        </p:nvSpPr>
        <p:spPr>
          <a:xfrm>
            <a:off x="706993" y="6042542"/>
            <a:ext cx="13216414" cy="1509950"/>
          </a:xfrm>
          <a:prstGeom prst="roundRect">
            <a:avLst>
              <a:gd name="adj" fmla="val 4382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891302" y="6226850"/>
            <a:ext cx="530185" cy="530185"/>
          </a:xfrm>
          <a:prstGeom prst="roundRect">
            <a:avLst>
              <a:gd name="adj" fmla="val 17245085"/>
            </a:avLst>
          </a:prstGeom>
          <a:solidFill>
            <a:schemeClr val="accent2">
              <a:lumMod val="60000"/>
              <a:lumOff val="40000"/>
            </a:schemeClr>
          </a:solidFill>
          <a:ln/>
        </p:spPr>
      </p:sp>
      <p:sp>
        <p:nvSpPr>
          <p:cNvPr id="37" name="Text 28"/>
          <p:cNvSpPr/>
          <p:nvPr/>
        </p:nvSpPr>
        <p:spPr>
          <a:xfrm>
            <a:off x="1532747" y="6353829"/>
            <a:ext cx="220956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Firebase</a:t>
            </a:r>
            <a:endParaRPr lang="en-US" sz="1700" dirty="0"/>
          </a:p>
        </p:txBody>
      </p:sp>
      <p:sp>
        <p:nvSpPr>
          <p:cNvPr id="38" name="Text 29"/>
          <p:cNvSpPr/>
          <p:nvPr/>
        </p:nvSpPr>
        <p:spPr>
          <a:xfrm>
            <a:off x="891302" y="6934067"/>
            <a:ext cx="12847796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Lógica</a:t>
            </a: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do </a:t>
            </a:r>
            <a:r>
              <a:rPr lang="en-US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sistema</a:t>
            </a: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como</a:t>
            </a: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serviço: autenticação, banco de dados e hospedagem.</a:t>
            </a:r>
            <a:endParaRPr lang="en-US" dirty="0"/>
          </a:p>
        </p:txBody>
      </p:sp>
      <p:sp>
        <p:nvSpPr>
          <p:cNvPr id="39" name="Retângulo 38"/>
          <p:cNvSpPr/>
          <p:nvPr/>
        </p:nvSpPr>
        <p:spPr>
          <a:xfrm>
            <a:off x="12719713" y="7736800"/>
            <a:ext cx="1910687" cy="498872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89" y="863797"/>
            <a:ext cx="845962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Estrutura da Interface do Usuário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709822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Foram desenvolvidos wireframes para auxiliar na definição do layout e da disposição dos elementos na tela, permitindo visualizar previamente a experiência do usuário.</a:t>
            </a:r>
            <a:endParaRPr lang="en-US" sz="2000" dirty="0"/>
          </a:p>
        </p:txBody>
      </p:sp>
      <p:sp>
        <p:nvSpPr>
          <p:cNvPr id="19" name="Retângulo 18"/>
          <p:cNvSpPr/>
          <p:nvPr/>
        </p:nvSpPr>
        <p:spPr>
          <a:xfrm>
            <a:off x="12719713" y="7177951"/>
            <a:ext cx="1910687" cy="1057721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" name="Image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3790" y="2606723"/>
            <a:ext cx="13042821" cy="52816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3"/>
          <p:cNvSpPr/>
          <p:nvPr/>
        </p:nvSpPr>
        <p:spPr>
          <a:xfrm>
            <a:off x="650915" y="2652474"/>
            <a:ext cx="6565106" cy="4212350"/>
          </a:xfrm>
          <a:prstGeom prst="roundRect">
            <a:avLst>
              <a:gd name="adj" fmla="val 5647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793790" y="1734741"/>
            <a:ext cx="1060787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Autenticação e Armazenamento de Dados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849273" y="2850833"/>
            <a:ext cx="326802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Estrutura de Autenticação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49273" y="3359348"/>
            <a:ext cx="616839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Desenvolvida para garantir segurança e controle de acesso. O usuário pode criar conta via e-mail/senha ou Google.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49273" y="4391386"/>
            <a:ext cx="6168390" cy="2252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 err="1">
                <a:solidFill>
                  <a:srgbClr val="000000"/>
                </a:solidFill>
                <a:latin typeface="DM Sans"/>
                <a:ea typeface="DM Sans" pitchFamily="34" charset="-122"/>
                <a:cs typeface="DM Sans" pitchFamily="34" charset="-120"/>
              </a:rPr>
              <a:t>Cadastro</a:t>
            </a:r>
            <a:r>
              <a:rPr lang="en-US" dirty="0">
                <a:solidFill>
                  <a:srgbClr val="000000"/>
                </a:solidFill>
                <a:latin typeface="DM Sans"/>
                <a:ea typeface="DM Sans" pitchFamily="34" charset="-122"/>
                <a:cs typeface="DM Sans" pitchFamily="34" charset="-120"/>
              </a:rPr>
              <a:t> e login com e-mail e </a:t>
            </a:r>
            <a:r>
              <a:rPr lang="en-US" dirty="0" err="1">
                <a:solidFill>
                  <a:srgbClr val="000000"/>
                </a:solidFill>
                <a:latin typeface="DM Sans"/>
                <a:ea typeface="DM Sans" pitchFamily="34" charset="-122"/>
                <a:cs typeface="DM Sans" pitchFamily="34" charset="-120"/>
              </a:rPr>
              <a:t>senha</a:t>
            </a:r>
            <a:endParaRPr lang="en-US" dirty="0" err="1">
              <a:latin typeface="DM Sans"/>
            </a:endParaRP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DM Sans"/>
                <a:ea typeface="DM Sans" pitchFamily="34" charset="-122"/>
                <a:cs typeface="DM Sans" pitchFamily="34" charset="-120"/>
              </a:rPr>
              <a:t>Login com </a:t>
            </a:r>
            <a:r>
              <a:rPr lang="en-US" dirty="0" err="1">
                <a:solidFill>
                  <a:srgbClr val="000000"/>
                </a:solidFill>
                <a:latin typeface="DM Sans"/>
                <a:ea typeface="DM Sans" pitchFamily="34" charset="-122"/>
                <a:cs typeface="DM Sans" pitchFamily="34" charset="-120"/>
              </a:rPr>
              <a:t>conta</a:t>
            </a:r>
            <a:r>
              <a:rPr lang="en-US" dirty="0">
                <a:solidFill>
                  <a:srgbClr val="000000"/>
                </a:solidFill>
                <a:latin typeface="DM Sans"/>
                <a:ea typeface="DM Sans" pitchFamily="34" charset="-122"/>
                <a:cs typeface="DM Sans" pitchFamily="34" charset="-120"/>
              </a:rPr>
              <a:t> Google</a:t>
            </a:r>
            <a:endParaRPr lang="en-US" dirty="0">
              <a:latin typeface="DM Sans"/>
            </a:endParaRP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 err="1">
                <a:solidFill>
                  <a:srgbClr val="000000"/>
                </a:solidFill>
                <a:latin typeface="DM Sans"/>
                <a:ea typeface="DM Sans" pitchFamily="34" charset="-122"/>
                <a:cs typeface="DM Sans" pitchFamily="34" charset="-120"/>
              </a:rPr>
              <a:t>Recuperação</a:t>
            </a:r>
            <a:r>
              <a:rPr lang="en-US" dirty="0">
                <a:solidFill>
                  <a:srgbClr val="000000"/>
                </a:solidFill>
                <a:latin typeface="DM Sans"/>
                <a:ea typeface="DM Sans" pitchFamily="34" charset="-122"/>
                <a:cs typeface="DM Sans" pitchFamily="34" charset="-12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DM Sans"/>
                <a:ea typeface="DM Sans" pitchFamily="34" charset="-122"/>
                <a:cs typeface="DM Sans" pitchFamily="34" charset="-120"/>
              </a:rPr>
              <a:t>senha</a:t>
            </a:r>
            <a:endParaRPr lang="en-US" dirty="0" err="1">
              <a:latin typeface="DM Sans"/>
            </a:endParaRP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 err="1">
                <a:solidFill>
                  <a:srgbClr val="000000"/>
                </a:solidFill>
                <a:latin typeface="DM Sans"/>
                <a:ea typeface="DM Sans" pitchFamily="34" charset="-122"/>
                <a:cs typeface="DM Sans" pitchFamily="34" charset="-120"/>
              </a:rPr>
              <a:t>Manutenção</a:t>
            </a:r>
            <a:r>
              <a:rPr lang="en-US" dirty="0">
                <a:solidFill>
                  <a:srgbClr val="000000"/>
                </a:solidFill>
                <a:latin typeface="DM Sans"/>
                <a:ea typeface="DM Sans" pitchFamily="34" charset="-122"/>
                <a:cs typeface="DM Sans" pitchFamily="34" charset="-12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DM Sans"/>
                <a:ea typeface="DM Sans" pitchFamily="34" charset="-122"/>
                <a:cs typeface="DM Sans" pitchFamily="34" charset="-120"/>
              </a:rPr>
              <a:t>sessão</a:t>
            </a:r>
            <a:r>
              <a:rPr lang="en-US" dirty="0">
                <a:solidFill>
                  <a:srgbClr val="000000"/>
                </a:solidFill>
                <a:latin typeface="DM Sans"/>
                <a:ea typeface="DM Sans" pitchFamily="34" charset="-122"/>
                <a:cs typeface="DM Sans" pitchFamily="34" charset="-120"/>
              </a:rPr>
              <a:t> (login </a:t>
            </a:r>
            <a:r>
              <a:rPr lang="en-US" dirty="0" err="1">
                <a:solidFill>
                  <a:srgbClr val="000000"/>
                </a:solidFill>
                <a:latin typeface="DM Sans"/>
                <a:ea typeface="DM Sans" pitchFamily="34" charset="-122"/>
                <a:cs typeface="DM Sans" pitchFamily="34" charset="-120"/>
              </a:rPr>
              <a:t>persistente</a:t>
            </a:r>
            <a:r>
              <a:rPr lang="en-US" dirty="0">
                <a:solidFill>
                  <a:srgbClr val="000000"/>
                </a:solidFill>
                <a:latin typeface="DM Sans"/>
                <a:ea typeface="DM Sans" pitchFamily="34" charset="-122"/>
                <a:cs typeface="DM Sans" pitchFamily="34" charset="-120"/>
              </a:rPr>
              <a:t>)</a:t>
            </a:r>
            <a:endParaRPr lang="en-US" dirty="0">
              <a:latin typeface="DM Sans"/>
            </a:endParaRP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DM Sans"/>
                <a:ea typeface="DM Sans" pitchFamily="34" charset="-122"/>
                <a:cs typeface="DM Sans" pitchFamily="34" charset="-120"/>
              </a:rPr>
              <a:t>Logout do </a:t>
            </a:r>
            <a:r>
              <a:rPr lang="en-US" dirty="0" err="1">
                <a:solidFill>
                  <a:srgbClr val="000000"/>
                </a:solidFill>
                <a:latin typeface="DM Sans"/>
                <a:ea typeface="DM Sans" pitchFamily="34" charset="-122"/>
                <a:cs typeface="DM Sans" pitchFamily="34" charset="-120"/>
              </a:rPr>
              <a:t>sistema</a:t>
            </a:r>
            <a:endParaRPr lang="en-US" dirty="0" err="1">
              <a:latin typeface="DM Sans"/>
            </a:endParaRP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DM Sans"/>
                <a:ea typeface="DM Sans" pitchFamily="34" charset="-122"/>
                <a:cs typeface="DM Sans" pitchFamily="34" charset="-120"/>
              </a:rPr>
              <a:t>Controle de </a:t>
            </a:r>
            <a:r>
              <a:rPr lang="en-US" dirty="0" err="1">
                <a:solidFill>
                  <a:srgbClr val="000000"/>
                </a:solidFill>
                <a:latin typeface="DM Sans"/>
                <a:ea typeface="DM Sans" pitchFamily="34" charset="-122"/>
                <a:cs typeface="DM Sans" pitchFamily="34" charset="-120"/>
              </a:rPr>
              <a:t>acesso</a:t>
            </a:r>
            <a:r>
              <a:rPr lang="en-US" dirty="0">
                <a:solidFill>
                  <a:srgbClr val="000000"/>
                </a:solidFill>
                <a:latin typeface="DM Sans"/>
                <a:ea typeface="DM Sans" pitchFamily="34" charset="-122"/>
                <a:cs typeface="DM Sans" pitchFamily="34" charset="-12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DM Sans"/>
                <a:ea typeface="DM Sans" pitchFamily="34" charset="-122"/>
                <a:cs typeface="DM Sans" pitchFamily="34" charset="-120"/>
              </a:rPr>
              <a:t>recursos</a:t>
            </a:r>
            <a:r>
              <a:rPr lang="en-US" dirty="0">
                <a:solidFill>
                  <a:srgbClr val="000000"/>
                </a:solidFill>
                <a:latin typeface="DM Sans"/>
                <a:ea typeface="DM Sans" pitchFamily="34" charset="-122"/>
                <a:cs typeface="DM Sans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DM Sans"/>
                <a:ea typeface="DM Sans" pitchFamily="34" charset="-122"/>
                <a:cs typeface="DM Sans" pitchFamily="34" charset="-120"/>
              </a:rPr>
              <a:t>personalizados</a:t>
            </a:r>
            <a:r>
              <a:rPr lang="en-US" dirty="0">
                <a:solidFill>
                  <a:srgbClr val="000000"/>
                </a:solidFill>
                <a:latin typeface="DM Sans"/>
                <a:ea typeface="DM Sans" pitchFamily="34" charset="-122"/>
                <a:cs typeface="DM Sans" pitchFamily="34" charset="-12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DM Sans"/>
                <a:ea typeface="DM Sans" pitchFamily="34" charset="-122"/>
                <a:cs typeface="DM Sans" pitchFamily="34" charset="-120"/>
              </a:rPr>
              <a:t>favoritos</a:t>
            </a:r>
            <a:r>
              <a:rPr lang="en-US" dirty="0">
                <a:solidFill>
                  <a:srgbClr val="000000"/>
                </a:solidFill>
                <a:latin typeface="DM Sans"/>
                <a:ea typeface="DM Sans" pitchFamily="34" charset="-122"/>
                <a:cs typeface="DM Sans" pitchFamily="34" charset="-12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DM Sans"/>
                <a:ea typeface="DM Sans" pitchFamily="34" charset="-122"/>
                <a:cs typeface="DM Sans" pitchFamily="34" charset="-120"/>
              </a:rPr>
              <a:t>perfil</a:t>
            </a:r>
            <a:r>
              <a:rPr lang="en-US" dirty="0">
                <a:solidFill>
                  <a:srgbClr val="000000"/>
                </a:solidFill>
                <a:latin typeface="DM Sans"/>
                <a:ea typeface="DM Sans" pitchFamily="34" charset="-122"/>
                <a:cs typeface="DM Sans" pitchFamily="34" charset="-120"/>
              </a:rPr>
              <a:t>)</a:t>
            </a:r>
            <a:endParaRPr lang="en-US" dirty="0">
              <a:latin typeface="DM San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64874" y="2850833"/>
            <a:ext cx="342062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Armazenamento de Dados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564874" y="3359348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sistema utiliza múltiplas camadas de armazenamento para garantir performance e segurança: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564874" y="4391386"/>
            <a:ext cx="6279356" cy="1066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b="1" dirty="0">
                <a:solidFill>
                  <a:srgbClr val="454240"/>
                </a:solidFill>
                <a:latin typeface="DM Sans"/>
                <a:ea typeface="DM Sans" pitchFamily="34" charset="-122"/>
                <a:cs typeface="DM Sans" pitchFamily="34" charset="-120"/>
              </a:rPr>
              <a:t>Plugin </a:t>
            </a:r>
            <a:r>
              <a:rPr lang="en-US" b="1">
                <a:solidFill>
                  <a:srgbClr val="454240"/>
                </a:solidFill>
                <a:latin typeface="DM Sans"/>
                <a:ea typeface="DM Sans" pitchFamily="34" charset="-122"/>
                <a:cs typeface="DM Sans" pitchFamily="34" charset="-120"/>
              </a:rPr>
              <a:t>local</a:t>
            </a:r>
            <a:r>
              <a:rPr lang="en-US" b="1" dirty="0">
                <a:solidFill>
                  <a:srgbClr val="454240"/>
                </a:solidFill>
                <a:latin typeface="DM Sans"/>
                <a:ea typeface="DM Sans" pitchFamily="34" charset="-122"/>
                <a:cs typeface="DM Sans" pitchFamily="34" charset="-120"/>
              </a:rPr>
              <a:t>:</a:t>
            </a:r>
            <a:r>
              <a:rPr lang="en-US" dirty="0">
                <a:solidFill>
                  <a:srgbClr val="454240"/>
                </a:solidFill>
                <a:latin typeface="DM Sans"/>
                <a:ea typeface="DM Sans" pitchFamily="34" charset="-122"/>
                <a:cs typeface="DM Sans" pitchFamily="34" charset="-120"/>
              </a:rPr>
              <a:t> Ionic Storage</a:t>
            </a:r>
            <a:endParaRPr lang="en-US" dirty="0">
              <a:solidFill>
                <a:srgbClr val="454240"/>
              </a:solidFill>
              <a:latin typeface="DM Sans"/>
            </a:endParaRP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b="1" dirty="0" err="1">
                <a:solidFill>
                  <a:srgbClr val="454240"/>
                </a:solidFill>
                <a:latin typeface="DM Sans"/>
                <a:ea typeface="DM Sans" pitchFamily="34" charset="-122"/>
                <a:cs typeface="DM Sans" pitchFamily="34" charset="-120"/>
              </a:rPr>
              <a:t>Nuvem</a:t>
            </a:r>
            <a:r>
              <a:rPr lang="en-US" b="1" dirty="0">
                <a:solidFill>
                  <a:srgbClr val="454240"/>
                </a:solidFill>
                <a:latin typeface="DM Sans"/>
                <a:ea typeface="DM Sans" pitchFamily="34" charset="-122"/>
                <a:cs typeface="DM Sans" pitchFamily="34" charset="-120"/>
              </a:rPr>
              <a:t>:</a:t>
            </a:r>
            <a:r>
              <a:rPr lang="en-US" dirty="0">
                <a:solidFill>
                  <a:srgbClr val="454240"/>
                </a:solidFill>
                <a:latin typeface="DM Sans"/>
                <a:ea typeface="DM Sans" pitchFamily="34" charset="-122"/>
                <a:cs typeface="DM Sans" pitchFamily="34" charset="-120"/>
              </a:rPr>
              <a:t> Firebase </a:t>
            </a:r>
            <a:r>
              <a:rPr lang="en-US" dirty="0" err="1">
                <a:solidFill>
                  <a:srgbClr val="454240"/>
                </a:solidFill>
                <a:latin typeface="DM Sans"/>
                <a:ea typeface="DM Sans" pitchFamily="34" charset="-122"/>
                <a:cs typeface="DM Sans" pitchFamily="34" charset="-120"/>
              </a:rPr>
              <a:t>como</a:t>
            </a:r>
            <a:r>
              <a:rPr lang="en-US" dirty="0">
                <a:solidFill>
                  <a:srgbClr val="454240"/>
                </a:solidFill>
                <a:latin typeface="DM Sans"/>
                <a:ea typeface="DM Sans" pitchFamily="34" charset="-122"/>
                <a:cs typeface="DM Sans" pitchFamily="34" charset="-120"/>
              </a:rPr>
              <a:t> back-end de dados </a:t>
            </a:r>
            <a:r>
              <a:rPr lang="en-US" dirty="0" err="1">
                <a:solidFill>
                  <a:srgbClr val="454240"/>
                </a:solidFill>
                <a:latin typeface="DM Sans"/>
                <a:ea typeface="DM Sans" pitchFamily="34" charset="-122"/>
                <a:cs typeface="DM Sans" pitchFamily="34" charset="-120"/>
              </a:rPr>
              <a:t>em</a:t>
            </a:r>
            <a:r>
              <a:rPr lang="en-US" dirty="0">
                <a:solidFill>
                  <a:srgbClr val="454240"/>
                </a:solidFill>
                <a:latin typeface="DM Sans"/>
                <a:ea typeface="DM Sans" pitchFamily="34" charset="-122"/>
                <a:cs typeface="DM Sans" pitchFamily="34" charset="-120"/>
              </a:rPr>
              <a:t> tempo real</a:t>
            </a:r>
            <a:endParaRPr lang="en-US" dirty="0">
              <a:latin typeface="DM Sans"/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12719713" y="7177951"/>
            <a:ext cx="1910687" cy="1057721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5999"/>
            <a:ext cx="918543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Consumo de API e Recursos Nativos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44209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Consumo de API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2950607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API escolhida é de </a:t>
            </a:r>
            <a:r>
              <a:rPr lang="en-US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uso gratuito</a:t>
            </a: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 fornece dados estruturados para exibição em formato de feed. A decisão foi documentada com critérios de escolha, incluindo: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93790" y="4081820"/>
            <a:ext cx="6279356" cy="109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Uso de chave de autenticação (API key)</a:t>
            </a:r>
            <a:endParaRPr lang="en-US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Mecanismos de paginação para grandes volumes de dados</a:t>
            </a:r>
            <a:endParaRPr lang="en-US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Tipos de conteúdo: imagens, textos e atributos exibíveis em feed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564874" y="2442091"/>
            <a:ext cx="406265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Recursos Nativos do Dispositivo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564874" y="2950607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Plugins do Capacitor foram utilizados para acessar funcionalidades nativas: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564874" y="3808927"/>
            <a:ext cx="3040499" cy="3246965"/>
          </a:xfrm>
          <a:prstGeom prst="roundRect">
            <a:avLst>
              <a:gd name="adj" fmla="val 2903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86092" y="403014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📷</a:t>
            </a:r>
            <a:r>
              <a:rPr lang="en-US" sz="1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Câmera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786092" y="4538663"/>
            <a:ext cx="2598063" cy="1920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Permite futuras implementações como captura de imagens ou leitura de códigos. Instalado via </a:t>
            </a:r>
            <a:r>
              <a:rPr lang="en-US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@capacitor/camera</a:t>
            </a: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10803731" y="3808928"/>
            <a:ext cx="3040499" cy="3246964"/>
          </a:xfrm>
          <a:prstGeom prst="roundRect">
            <a:avLst>
              <a:gd name="adj" fmla="val 2903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024949" y="403014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📳</a:t>
            </a:r>
            <a:r>
              <a:rPr lang="en-US" sz="1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Vibração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024949" y="4538663"/>
            <a:ext cx="2598063" cy="1285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Fornece feedback tátil em interações na interface. Instalado via </a:t>
            </a:r>
            <a:r>
              <a:rPr lang="en-US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@capacitor/haptics</a:t>
            </a: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dirty="0"/>
          </a:p>
        </p:txBody>
      </p:sp>
      <p:sp>
        <p:nvSpPr>
          <p:cNvPr id="14" name="Retângulo 13"/>
          <p:cNvSpPr/>
          <p:nvPr/>
        </p:nvSpPr>
        <p:spPr>
          <a:xfrm>
            <a:off x="12719713" y="7177951"/>
            <a:ext cx="1910687" cy="1057721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7EDD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6988" y="139422"/>
            <a:ext cx="5300424" cy="79506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4260" y="820298"/>
            <a:ext cx="5009674" cy="581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Considerações Finais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744260" y="1835665"/>
            <a:ext cx="7655481" cy="865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desenvolvimento do </a:t>
            </a:r>
            <a:r>
              <a:rPr lang="en-US" sz="20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Plot</a:t>
            </a:r>
            <a:r>
              <a:rPr lang="en-US" sz="2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permitiu a criação de um aplicativo funcional voltado à visualização de informações sobre livros, atendendo aos objetivos propostos de oferecer uma plataforma simples, organizada e eficiente.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44260" y="3616305"/>
            <a:ext cx="3740468" cy="2511189"/>
          </a:xfrm>
          <a:prstGeom prst="roundRect">
            <a:avLst>
              <a:gd name="adj" fmla="val 4037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7855" y="3863617"/>
            <a:ext cx="2677358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Resultados Alcançados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37856" y="4404221"/>
            <a:ext cx="3353276" cy="115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Navegação intuitiva, acesso rápido às informações e recursos como busca, autenticação e favoritos, contribuindo para uma boa experiência do usuário.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659154" y="3616305"/>
            <a:ext cx="3740587" cy="2511188"/>
          </a:xfrm>
          <a:prstGeom prst="roundRect">
            <a:avLst>
              <a:gd name="adj" fmla="val 4037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52748" y="3863616"/>
            <a:ext cx="2325767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Benefícios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852749" y="4404220"/>
            <a:ext cx="3353395" cy="115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Facilidade na consulta de livros e avaliações, auxiliando os usuários na escolha de novas leituras com base em opiniões consolidadas.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884</Words>
  <Application>Microsoft Office PowerPoint</Application>
  <PresentationFormat>Personalizar</PresentationFormat>
  <Paragraphs>109</Paragraphs>
  <Slides>10</Slides>
  <Notes>10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1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Lurrie Valley</dc:creator>
  <cp:lastModifiedBy>Lurrie Valley</cp:lastModifiedBy>
  <cp:revision>52</cp:revision>
  <dcterms:created xsi:type="dcterms:W3CDTF">2026-04-21T15:24:05Z</dcterms:created>
  <dcterms:modified xsi:type="dcterms:W3CDTF">2026-06-12T00:04:24Z</dcterms:modified>
</cp:coreProperties>
</file>